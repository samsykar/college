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4" r:id="rId7"/>
    <p:sldId id="260" r:id="rId8"/>
    <p:sldId id="265" r:id="rId9"/>
    <p:sldId id="261" r:id="rId10"/>
    <p:sldId id="268" r:id="rId11"/>
    <p:sldId id="270" r:id="rId12"/>
    <p:sldId id="271" r:id="rId13"/>
    <p:sldId id="262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C7C7"/>
    <a:srgbClr val="A1A1A1"/>
    <a:srgbClr val="3F405A"/>
    <a:srgbClr val="40FF81"/>
    <a:srgbClr val="40EE92"/>
    <a:srgbClr val="40F6FA"/>
    <a:srgbClr val="40FABE"/>
    <a:srgbClr val="3F404B"/>
    <a:srgbClr val="40FA78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2A95C-428C-4F1E-BE6E-686AAF862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B66327-4645-48BB-B007-7CE42D8E2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80B5CE-B09E-4B0B-94D8-D8F67505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DBDAB6-750E-4E0A-A0F3-C1D1DDE02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19D58D-E0AA-4BF0-AB4F-09D2ECB9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908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C2310-4F8A-4C44-9D9F-E361C0A8E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878253-2C27-45F5-8FA8-111C8A6DA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D01730-1EC7-4A5B-AE31-2FBD255A9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902D26-B2E0-4966-A0C2-BCB40580B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DC1A30-4081-48FF-B7F6-49FF58EF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714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41F2B5-AE4A-4B81-8C05-C4D9DC0E3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A78622-48F2-4A9D-B971-6D62358C9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E6607F-D19B-4B34-9961-EE472D480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E5F94B-3EA6-4BB8-90B8-436E94270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022445-48DC-4247-8C7B-80222671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25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2BBB3E-E1FF-482E-9B80-8945D1AE0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35BCF8-5B24-4BCC-B9A5-154E78243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1F2C768-3C99-422E-9C7F-8488074BF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7A6C2C-02C7-486D-A975-A521B594A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730C75-3802-4383-AE94-DF4B61B7B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E07C4E-D236-4F02-91D2-87F34E77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232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5DFC5-1101-40D4-969C-1E50F3F1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E263D2-A1EA-41A8-B6AC-BEAD496C0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93CDE2-1BB9-4195-8C74-24B50B56A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5526724-CF9A-4D4A-A79B-CE450F8BBA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09B9DAD-1200-495F-9BC3-716936392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1D585C-DAD5-495C-BDE9-53B6F930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6E51016-8C7D-4ED9-AE2E-D7355C271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2ED336E-B00A-4B64-AA8E-B62050BE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152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0B3E8-3A54-432A-AF4B-62815FEC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BECE667-2BFE-414C-848A-C67C87E61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EDC24A1-6222-4258-A67E-D4C26ACA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12B550D-3A87-4525-901F-538EE0CAF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44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69D04C-D2E1-4806-982B-946E9E8F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79FA892-317C-401A-9A37-FB6CE1F62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CE51A1-9C1C-4F6A-9231-F42F2E1ED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363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56B62A-D804-490A-A525-96D294C6C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A3BAB6-800C-4BA3-BD4B-A6485CA38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73A455-5DC7-49FD-8B04-347DC8A2F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38C8E9-5D94-4B10-A0D1-C91B63216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5AC8EA-E1B0-4B8A-AED8-B3C5D1BC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EDF212-E2AF-4C78-BADE-F0E844E8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223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F9A8B6-442E-4639-8ECB-660B3EABD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5516303-AE99-4CD1-9E47-F6BA094DA2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0C4CC6-89D4-40A4-A400-3DD668F56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7501EB0-0A70-46E2-9012-BBC1EF9D6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618D1F-1559-43B5-A545-ABB9798F7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3A6849-F62D-4C56-9325-E143EF3F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54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D25B4-E0FE-451D-814C-25242F76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E165C8-6E95-4F17-A40A-F18809560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46069B-1FFC-43DF-8E74-A4CF884FC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A8BAFC-0C06-4091-8B9A-DEEE8D81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2ECA84-3870-4469-AEA7-045A9538C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667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E86269B-C614-4DE1-9DB3-2690D801A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C78B10D-2A7B-49E1-BB55-A0AC17E02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6DEBBE-8B72-495F-8062-31746808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EBCADB-C6B4-4FDF-AE0E-CE20D2170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A1B007-D041-44F0-8BFF-E9AE0E8A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9327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D3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AC633-3E59-4EAE-97E4-2CE7C8DB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2A971C-7775-4663-AAAD-E0554089F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876E52-702C-4AA9-A321-9EAE6F294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D06EC-3DD4-4CDA-A375-18D9C0988064}" type="datetimeFigureOut">
              <a:rPr lang="ru-RU" smtClean="0"/>
              <a:t>12.05.2025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5720FF-0FD2-47A0-9E49-25E1D0E2D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8550CD-12D5-4EFA-919D-2B9E28A7B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9976C-0FF5-4BFC-8740-69D3B70CF4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42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4A5141-5157-4744-8653-1183F04FA6E9}"/>
              </a:ext>
            </a:extLst>
          </p:cNvPr>
          <p:cNvSpPr txBox="1"/>
          <p:nvPr/>
        </p:nvSpPr>
        <p:spPr>
          <a:xfrm>
            <a:off x="1897081" y="34397"/>
            <a:ext cx="83978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РАЗРАБОТКА БАЗЫ ДАННЫХ ДЛЯ ПРЕДМЕТНОЙ ОБЛАСТИ</a:t>
            </a:r>
          </a:p>
          <a:p>
            <a:pPr algn="ctr"/>
            <a:r>
              <a:rPr lang="ru-RU" sz="3200" dirty="0"/>
              <a:t> «РЕСТОРАН»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BF1BFF-A05E-4099-8E7C-9807F70A8BF7}"/>
              </a:ext>
            </a:extLst>
          </p:cNvPr>
          <p:cNvSpPr txBox="1"/>
          <p:nvPr/>
        </p:nvSpPr>
        <p:spPr>
          <a:xfrm>
            <a:off x="7810001" y="5042118"/>
            <a:ext cx="438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Автор: </a:t>
            </a:r>
          </a:p>
          <a:p>
            <a:r>
              <a:rPr lang="ru-RU" sz="2000" dirty="0" err="1"/>
              <a:t>Самсыка</a:t>
            </a:r>
            <a:r>
              <a:rPr lang="ru-RU" sz="2000" dirty="0"/>
              <a:t> Родион Михайлович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2A0A2-3C7D-4E90-8B9C-5678435C03DD}"/>
              </a:ext>
            </a:extLst>
          </p:cNvPr>
          <p:cNvSpPr txBox="1"/>
          <p:nvPr/>
        </p:nvSpPr>
        <p:spPr>
          <a:xfrm>
            <a:off x="7810000" y="6150114"/>
            <a:ext cx="438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Научный руководитель: </a:t>
            </a:r>
          </a:p>
          <a:p>
            <a:r>
              <a:rPr lang="ru-RU" sz="2000" dirty="0"/>
              <a:t>Богомолова Светлана Михайловна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042CD2-BE11-4542-9EAC-23A5F0176E49}"/>
              </a:ext>
            </a:extLst>
          </p:cNvPr>
          <p:cNvSpPr txBox="1"/>
          <p:nvPr/>
        </p:nvSpPr>
        <p:spPr>
          <a:xfrm>
            <a:off x="1" y="5042118"/>
            <a:ext cx="438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/>
              <a:t>Министерство образования, науки и молодежной политики Краснодарского края ГБПОУ КК ЕПК</a:t>
            </a:r>
          </a:p>
          <a:p>
            <a:pPr algn="just"/>
            <a:r>
              <a:rPr lang="ru-RU" sz="1600" dirty="0"/>
              <a:t> </a:t>
            </a:r>
          </a:p>
          <a:p>
            <a:pPr algn="just"/>
            <a:r>
              <a:rPr lang="ru-RU" sz="1600" dirty="0"/>
              <a:t>Отделение Педагогики </a:t>
            </a:r>
          </a:p>
          <a:p>
            <a:pPr algn="just"/>
            <a:r>
              <a:rPr lang="ru-RU" sz="1600" dirty="0"/>
              <a:t>Специальность 09.02.07 Информационные системы и программирование</a:t>
            </a:r>
          </a:p>
        </p:txBody>
      </p:sp>
      <p:sp>
        <p:nvSpPr>
          <p:cNvPr id="7" name="Ромб 6">
            <a:extLst>
              <a:ext uri="{FF2B5EF4-FFF2-40B4-BE49-F238E27FC236}">
                <a16:creationId xmlns:a16="http://schemas.microsoft.com/office/drawing/2014/main" id="{20BE570D-BDBA-44FD-A9DA-F877DC1F8C4A}"/>
              </a:ext>
            </a:extLst>
          </p:cNvPr>
          <p:cNvSpPr/>
          <p:nvPr/>
        </p:nvSpPr>
        <p:spPr>
          <a:xfrm>
            <a:off x="4296887" y="1776419"/>
            <a:ext cx="3598224" cy="3305161"/>
          </a:xfrm>
          <a:prstGeom prst="diamond">
            <a:avLst/>
          </a:prstGeom>
          <a:solidFill>
            <a:srgbClr val="B8B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830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3459678" y="11875"/>
            <a:ext cx="5272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Содержание презентации</a:t>
            </a:r>
          </a:p>
        </p:txBody>
      </p:sp>
      <p:sp>
        <p:nvSpPr>
          <p:cNvPr id="4" name="Шестиугольник 3">
            <a:extLst>
              <a:ext uri="{FF2B5EF4-FFF2-40B4-BE49-F238E27FC236}">
                <a16:creationId xmlns:a16="http://schemas.microsoft.com/office/drawing/2014/main" id="{697F1E87-9D6F-4697-9B21-964BEC6F03ED}"/>
              </a:ext>
            </a:extLst>
          </p:cNvPr>
          <p:cNvSpPr/>
          <p:nvPr/>
        </p:nvSpPr>
        <p:spPr>
          <a:xfrm>
            <a:off x="0" y="1445821"/>
            <a:ext cx="2355273" cy="1983179"/>
          </a:xfrm>
          <a:prstGeom prst="hexagon">
            <a:avLst/>
          </a:prstGeom>
          <a:solidFill>
            <a:srgbClr val="3F4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Шестиугольник 4">
            <a:extLst>
              <a:ext uri="{FF2B5EF4-FFF2-40B4-BE49-F238E27FC236}">
                <a16:creationId xmlns:a16="http://schemas.microsoft.com/office/drawing/2014/main" id="{2F9DFA6A-6CC4-41DB-8413-C5A81FB3CCD8}"/>
              </a:ext>
            </a:extLst>
          </p:cNvPr>
          <p:cNvSpPr/>
          <p:nvPr/>
        </p:nvSpPr>
        <p:spPr>
          <a:xfrm>
            <a:off x="1779954" y="2773210"/>
            <a:ext cx="2355273" cy="1983179"/>
          </a:xfrm>
          <a:prstGeom prst="hexag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Шестиугольник 5">
            <a:extLst>
              <a:ext uri="{FF2B5EF4-FFF2-40B4-BE49-F238E27FC236}">
                <a16:creationId xmlns:a16="http://schemas.microsoft.com/office/drawing/2014/main" id="{439B03DD-9C34-4A35-B6A4-1E0A7E069A94}"/>
              </a:ext>
            </a:extLst>
          </p:cNvPr>
          <p:cNvSpPr/>
          <p:nvPr/>
        </p:nvSpPr>
        <p:spPr>
          <a:xfrm>
            <a:off x="3599376" y="4094669"/>
            <a:ext cx="2355273" cy="1983179"/>
          </a:xfrm>
          <a:prstGeom prst="hexagon">
            <a:avLst/>
          </a:prstGeom>
          <a:solidFill>
            <a:srgbClr val="40FA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Шестиугольник 6">
            <a:extLst>
              <a:ext uri="{FF2B5EF4-FFF2-40B4-BE49-F238E27FC236}">
                <a16:creationId xmlns:a16="http://schemas.microsoft.com/office/drawing/2014/main" id="{DE2216C6-58A7-40ED-9FB9-42721DBAF1EB}"/>
              </a:ext>
            </a:extLst>
          </p:cNvPr>
          <p:cNvSpPr/>
          <p:nvPr/>
        </p:nvSpPr>
        <p:spPr>
          <a:xfrm>
            <a:off x="6193200" y="4098866"/>
            <a:ext cx="2355273" cy="1983179"/>
          </a:xfrm>
          <a:prstGeom prst="hexagon">
            <a:avLst/>
          </a:prstGeom>
          <a:solidFill>
            <a:srgbClr val="40EE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Шестиугольник 7">
            <a:extLst>
              <a:ext uri="{FF2B5EF4-FFF2-40B4-BE49-F238E27FC236}">
                <a16:creationId xmlns:a16="http://schemas.microsoft.com/office/drawing/2014/main" id="{F7D4316D-11C9-4E04-8D77-5039BFEE180A}"/>
              </a:ext>
            </a:extLst>
          </p:cNvPr>
          <p:cNvSpPr/>
          <p:nvPr/>
        </p:nvSpPr>
        <p:spPr>
          <a:xfrm>
            <a:off x="8020612" y="2773210"/>
            <a:ext cx="2355273" cy="1983179"/>
          </a:xfrm>
          <a:prstGeom prst="hexagon">
            <a:avLst/>
          </a:prstGeom>
          <a:solidFill>
            <a:srgbClr val="40FF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8710B-B112-480A-B4B2-338EB5264F47}"/>
              </a:ext>
            </a:extLst>
          </p:cNvPr>
          <p:cNvSpPr txBox="1"/>
          <p:nvPr/>
        </p:nvSpPr>
        <p:spPr>
          <a:xfrm>
            <a:off x="-1" y="2237355"/>
            <a:ext cx="235527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Введение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E819A3-662C-431F-8265-8C1769820DAF}"/>
              </a:ext>
            </a:extLst>
          </p:cNvPr>
          <p:cNvSpPr txBox="1"/>
          <p:nvPr/>
        </p:nvSpPr>
        <p:spPr>
          <a:xfrm>
            <a:off x="201878" y="95003"/>
            <a:ext cx="30757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Изменить цвета</a:t>
            </a:r>
            <a:br>
              <a:rPr lang="ru-RU" dirty="0"/>
            </a:br>
            <a:r>
              <a:rPr lang="ru-RU" dirty="0"/>
              <a:t>Добавить текст</a:t>
            </a:r>
            <a:br>
              <a:rPr lang="ru-RU" dirty="0"/>
            </a:br>
            <a:r>
              <a:rPr lang="ru-RU" dirty="0"/>
              <a:t>Выровнять если нужно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374625-BADB-40BD-A241-FB4BB126A77E}"/>
              </a:ext>
            </a:extLst>
          </p:cNvPr>
          <p:cNvSpPr txBox="1"/>
          <p:nvPr/>
        </p:nvSpPr>
        <p:spPr>
          <a:xfrm>
            <a:off x="1780309" y="3256967"/>
            <a:ext cx="2355273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Описание предметной области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E8B99B-DA46-43DE-BE16-7B7BF4DF4C61}"/>
              </a:ext>
            </a:extLst>
          </p:cNvPr>
          <p:cNvSpPr txBox="1"/>
          <p:nvPr/>
        </p:nvSpPr>
        <p:spPr>
          <a:xfrm>
            <a:off x="3616222" y="4618439"/>
            <a:ext cx="2355273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Инфологическое и </a:t>
            </a:r>
            <a:r>
              <a:rPr lang="ru-RU" sz="2000" dirty="0" err="1"/>
              <a:t>даталогическое</a:t>
            </a:r>
            <a:r>
              <a:rPr lang="ru-RU" sz="2000" dirty="0"/>
              <a:t> проектирование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91D9F7-F92E-426F-84BA-756BE00F31A4}"/>
              </a:ext>
            </a:extLst>
          </p:cNvPr>
          <p:cNvSpPr txBox="1"/>
          <p:nvPr/>
        </p:nvSpPr>
        <p:spPr>
          <a:xfrm>
            <a:off x="8020258" y="3376118"/>
            <a:ext cx="2355628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Запросы и представления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F80BD2-5307-4BC9-B2D7-B59F5B356DBF}"/>
              </a:ext>
            </a:extLst>
          </p:cNvPr>
          <p:cNvSpPr txBox="1"/>
          <p:nvPr/>
        </p:nvSpPr>
        <p:spPr>
          <a:xfrm>
            <a:off x="6176354" y="4772327"/>
            <a:ext cx="2355273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Реализация базы данных</a:t>
            </a:r>
          </a:p>
        </p:txBody>
      </p:sp>
      <p:sp>
        <p:nvSpPr>
          <p:cNvPr id="19" name="Шестиугольник 18">
            <a:extLst>
              <a:ext uri="{FF2B5EF4-FFF2-40B4-BE49-F238E27FC236}">
                <a16:creationId xmlns:a16="http://schemas.microsoft.com/office/drawing/2014/main" id="{B020379F-C913-47CB-A834-A5878728A12C}"/>
              </a:ext>
            </a:extLst>
          </p:cNvPr>
          <p:cNvSpPr/>
          <p:nvPr/>
        </p:nvSpPr>
        <p:spPr>
          <a:xfrm>
            <a:off x="9836727" y="1518323"/>
            <a:ext cx="2355273" cy="1983179"/>
          </a:xfrm>
          <a:prstGeom prst="hexagon">
            <a:avLst/>
          </a:prstGeom>
          <a:solidFill>
            <a:srgbClr val="40FF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950155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3459678" y="11875"/>
            <a:ext cx="5272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Содержание презентации</a:t>
            </a:r>
          </a:p>
        </p:txBody>
      </p:sp>
      <p:sp>
        <p:nvSpPr>
          <p:cNvPr id="4" name="Шестиугольник 3">
            <a:extLst>
              <a:ext uri="{FF2B5EF4-FFF2-40B4-BE49-F238E27FC236}">
                <a16:creationId xmlns:a16="http://schemas.microsoft.com/office/drawing/2014/main" id="{697F1E87-9D6F-4697-9B21-964BEC6F03ED}"/>
              </a:ext>
            </a:extLst>
          </p:cNvPr>
          <p:cNvSpPr/>
          <p:nvPr/>
        </p:nvSpPr>
        <p:spPr>
          <a:xfrm>
            <a:off x="0" y="2100825"/>
            <a:ext cx="2355273" cy="1983179"/>
          </a:xfrm>
          <a:prstGeom prst="hexagon">
            <a:avLst/>
          </a:prstGeom>
          <a:solidFill>
            <a:srgbClr val="3F4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Шестиугольник 4">
            <a:extLst>
              <a:ext uri="{FF2B5EF4-FFF2-40B4-BE49-F238E27FC236}">
                <a16:creationId xmlns:a16="http://schemas.microsoft.com/office/drawing/2014/main" id="{2F9DFA6A-6CC4-41DB-8413-C5A81FB3CCD8}"/>
              </a:ext>
            </a:extLst>
          </p:cNvPr>
          <p:cNvSpPr/>
          <p:nvPr/>
        </p:nvSpPr>
        <p:spPr>
          <a:xfrm>
            <a:off x="1952894" y="3088552"/>
            <a:ext cx="2355273" cy="1983179"/>
          </a:xfrm>
          <a:prstGeom prst="hexag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Шестиугольник 5">
            <a:extLst>
              <a:ext uri="{FF2B5EF4-FFF2-40B4-BE49-F238E27FC236}">
                <a16:creationId xmlns:a16="http://schemas.microsoft.com/office/drawing/2014/main" id="{439B03DD-9C34-4A35-B6A4-1E0A7E069A94}"/>
              </a:ext>
            </a:extLst>
          </p:cNvPr>
          <p:cNvSpPr/>
          <p:nvPr/>
        </p:nvSpPr>
        <p:spPr>
          <a:xfrm>
            <a:off x="3919877" y="2096963"/>
            <a:ext cx="2355273" cy="1983179"/>
          </a:xfrm>
          <a:prstGeom prst="hexagon">
            <a:avLst/>
          </a:prstGeom>
          <a:solidFill>
            <a:srgbClr val="40FA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Шестиугольник 6">
            <a:extLst>
              <a:ext uri="{FF2B5EF4-FFF2-40B4-BE49-F238E27FC236}">
                <a16:creationId xmlns:a16="http://schemas.microsoft.com/office/drawing/2014/main" id="{DE2216C6-58A7-40ED-9FB9-42721DBAF1EB}"/>
              </a:ext>
            </a:extLst>
          </p:cNvPr>
          <p:cNvSpPr/>
          <p:nvPr/>
        </p:nvSpPr>
        <p:spPr>
          <a:xfrm>
            <a:off x="5872771" y="3088553"/>
            <a:ext cx="2355273" cy="1983179"/>
          </a:xfrm>
          <a:prstGeom prst="hexagon">
            <a:avLst/>
          </a:prstGeom>
          <a:solidFill>
            <a:srgbClr val="40EE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Шестиугольник 7">
            <a:extLst>
              <a:ext uri="{FF2B5EF4-FFF2-40B4-BE49-F238E27FC236}">
                <a16:creationId xmlns:a16="http://schemas.microsoft.com/office/drawing/2014/main" id="{F7D4316D-11C9-4E04-8D77-5039BFEE180A}"/>
              </a:ext>
            </a:extLst>
          </p:cNvPr>
          <p:cNvSpPr/>
          <p:nvPr/>
        </p:nvSpPr>
        <p:spPr>
          <a:xfrm>
            <a:off x="7883833" y="2113627"/>
            <a:ext cx="2355273" cy="1983179"/>
          </a:xfrm>
          <a:prstGeom prst="hexagon">
            <a:avLst/>
          </a:prstGeom>
          <a:solidFill>
            <a:srgbClr val="40FF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8710B-B112-480A-B4B2-338EB5264F47}"/>
              </a:ext>
            </a:extLst>
          </p:cNvPr>
          <p:cNvSpPr txBox="1"/>
          <p:nvPr/>
        </p:nvSpPr>
        <p:spPr>
          <a:xfrm>
            <a:off x="461340" y="4134679"/>
            <a:ext cx="143259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Введение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374625-BADB-40BD-A241-FB4BB126A77E}"/>
              </a:ext>
            </a:extLst>
          </p:cNvPr>
          <p:cNvSpPr txBox="1"/>
          <p:nvPr/>
        </p:nvSpPr>
        <p:spPr>
          <a:xfrm>
            <a:off x="2276243" y="1973006"/>
            <a:ext cx="1710823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Описание предметной области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E8B99B-DA46-43DE-BE16-7B7BF4DF4C61}"/>
              </a:ext>
            </a:extLst>
          </p:cNvPr>
          <p:cNvSpPr txBox="1"/>
          <p:nvPr/>
        </p:nvSpPr>
        <p:spPr>
          <a:xfrm>
            <a:off x="4060374" y="4180025"/>
            <a:ext cx="2086021" cy="877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700" b="1" dirty="0"/>
              <a:t>Инфологическое и </a:t>
            </a:r>
            <a:r>
              <a:rPr lang="ru-RU" sz="1700" b="1" dirty="0" err="1"/>
              <a:t>даталогическое</a:t>
            </a:r>
            <a:r>
              <a:rPr lang="ru-RU" sz="1700" b="1" dirty="0"/>
              <a:t> проектирование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91D9F7-F92E-426F-84BA-756BE00F31A4}"/>
              </a:ext>
            </a:extLst>
          </p:cNvPr>
          <p:cNvSpPr txBox="1"/>
          <p:nvPr/>
        </p:nvSpPr>
        <p:spPr>
          <a:xfrm>
            <a:off x="7998499" y="4134679"/>
            <a:ext cx="2086021" cy="6771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900" b="1" dirty="0"/>
              <a:t>Запросы и представления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F80BD2-5307-4BC9-B2D7-B59F5B356DBF}"/>
              </a:ext>
            </a:extLst>
          </p:cNvPr>
          <p:cNvSpPr txBox="1"/>
          <p:nvPr/>
        </p:nvSpPr>
        <p:spPr>
          <a:xfrm>
            <a:off x="6083069" y="2280784"/>
            <a:ext cx="1934676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/>
              <a:t>Реализация базы данных</a:t>
            </a:r>
          </a:p>
        </p:txBody>
      </p:sp>
      <p:sp>
        <p:nvSpPr>
          <p:cNvPr id="19" name="Шестиугольник 18">
            <a:extLst>
              <a:ext uri="{FF2B5EF4-FFF2-40B4-BE49-F238E27FC236}">
                <a16:creationId xmlns:a16="http://schemas.microsoft.com/office/drawing/2014/main" id="{B020379F-C913-47CB-A834-A5878728A12C}"/>
              </a:ext>
            </a:extLst>
          </p:cNvPr>
          <p:cNvSpPr/>
          <p:nvPr/>
        </p:nvSpPr>
        <p:spPr>
          <a:xfrm>
            <a:off x="9836727" y="3143090"/>
            <a:ext cx="2355273" cy="1983179"/>
          </a:xfrm>
          <a:prstGeom prst="hexag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7D3AF1-EB08-41F1-94BD-A109E1699A69}"/>
              </a:ext>
            </a:extLst>
          </p:cNvPr>
          <p:cNvSpPr txBox="1"/>
          <p:nvPr/>
        </p:nvSpPr>
        <p:spPr>
          <a:xfrm>
            <a:off x="10158951" y="2588559"/>
            <a:ext cx="171082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900" b="1" dirty="0"/>
              <a:t>Заключение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9C8492-842D-474C-9C75-E5F893F9D098}"/>
              </a:ext>
            </a:extLst>
          </p:cNvPr>
          <p:cNvSpPr txBox="1"/>
          <p:nvPr/>
        </p:nvSpPr>
        <p:spPr>
          <a:xfrm>
            <a:off x="654191" y="2580720"/>
            <a:ext cx="104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ln w="3175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9CA6F0-2C81-4423-9431-84A7B33B8C73}"/>
              </a:ext>
            </a:extLst>
          </p:cNvPr>
          <p:cNvSpPr txBox="1"/>
          <p:nvPr/>
        </p:nvSpPr>
        <p:spPr>
          <a:xfrm>
            <a:off x="2607087" y="3626847"/>
            <a:ext cx="104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702A7A-38BF-414D-AA5F-296F0C3D540B}"/>
              </a:ext>
            </a:extLst>
          </p:cNvPr>
          <p:cNvSpPr txBox="1"/>
          <p:nvPr/>
        </p:nvSpPr>
        <p:spPr>
          <a:xfrm>
            <a:off x="4571257" y="2597384"/>
            <a:ext cx="104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9CB6FF-8FF2-4D7F-A279-72001A16E8D7}"/>
              </a:ext>
            </a:extLst>
          </p:cNvPr>
          <p:cNvSpPr txBox="1"/>
          <p:nvPr/>
        </p:nvSpPr>
        <p:spPr>
          <a:xfrm>
            <a:off x="6526962" y="3572309"/>
            <a:ext cx="104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8C9C4C-1500-4F05-80FD-0F94D0AD84DB}"/>
              </a:ext>
            </a:extLst>
          </p:cNvPr>
          <p:cNvSpPr txBox="1"/>
          <p:nvPr/>
        </p:nvSpPr>
        <p:spPr>
          <a:xfrm>
            <a:off x="8538026" y="2601895"/>
            <a:ext cx="104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4A38DB-8A4A-417A-85F2-7DDD2EF15770}"/>
              </a:ext>
            </a:extLst>
          </p:cNvPr>
          <p:cNvSpPr txBox="1"/>
          <p:nvPr/>
        </p:nvSpPr>
        <p:spPr>
          <a:xfrm>
            <a:off x="10490918" y="3626847"/>
            <a:ext cx="10468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85067661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A5E2F6CA-7AE6-461B-9B6D-35DB6359E379}"/>
              </a:ext>
            </a:extLst>
          </p:cNvPr>
          <p:cNvGrpSpPr/>
          <p:nvPr/>
        </p:nvGrpSpPr>
        <p:grpSpPr>
          <a:xfrm>
            <a:off x="-11875" y="0"/>
            <a:ext cx="12192000" cy="6858000"/>
            <a:chOff x="-11875" y="0"/>
            <a:chExt cx="12192000" cy="6831633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015EFF2B-84F7-4027-91E5-4D9AB4A31B52}"/>
                </a:ext>
              </a:extLst>
            </p:cNvPr>
            <p:cNvSpPr/>
            <p:nvPr/>
          </p:nvSpPr>
          <p:spPr>
            <a:xfrm>
              <a:off x="-11875" y="4545633"/>
              <a:ext cx="12192000" cy="22860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C004994-2211-4005-B346-E4E0BC835D2A}"/>
                </a:ext>
              </a:extLst>
            </p:cNvPr>
            <p:cNvSpPr/>
            <p:nvPr/>
          </p:nvSpPr>
          <p:spPr>
            <a:xfrm>
              <a:off x="-11875" y="2259633"/>
              <a:ext cx="12192000" cy="2286000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296C4A4-3B64-414F-9ABF-C6A7D395C16D}"/>
                </a:ext>
              </a:extLst>
            </p:cNvPr>
            <p:cNvSpPr/>
            <p:nvPr/>
          </p:nvSpPr>
          <p:spPr>
            <a:xfrm>
              <a:off x="-11875" y="0"/>
              <a:ext cx="12192000" cy="2286000"/>
            </a:xfrm>
            <a:prstGeom prst="rect">
              <a:avLst/>
            </a:prstGeom>
            <a:solidFill>
              <a:srgbClr val="C7C7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FFC5940-8329-49A4-8A59-BED696FF61B2}"/>
              </a:ext>
            </a:extLst>
          </p:cNvPr>
          <p:cNvSpPr/>
          <p:nvPr/>
        </p:nvSpPr>
        <p:spPr>
          <a:xfrm>
            <a:off x="10044297" y="0"/>
            <a:ext cx="2142507" cy="523220"/>
          </a:xfrm>
          <a:prstGeom prst="rect">
            <a:avLst/>
          </a:prstGeom>
          <a:solidFill>
            <a:srgbClr val="41B3F9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10173441" y="-24886"/>
            <a:ext cx="1884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Введение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6A80E1-D9A9-4DB9-9DDA-AE26CF91F09F}"/>
              </a:ext>
            </a:extLst>
          </p:cNvPr>
          <p:cNvSpPr txBox="1"/>
          <p:nvPr/>
        </p:nvSpPr>
        <p:spPr>
          <a:xfrm>
            <a:off x="1506183" y="295896"/>
            <a:ext cx="8348353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В современном мире использование информационных систем стало неотъемлемой частью любой организации. Цифровыми базами данных пользоваться намного удобнее и быстрее, нежели бумажными документами.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818777-16D7-4D0B-8B82-B2EACD5EEA50}"/>
              </a:ext>
            </a:extLst>
          </p:cNvPr>
          <p:cNvSpPr txBox="1"/>
          <p:nvPr/>
        </p:nvSpPr>
        <p:spPr>
          <a:xfrm>
            <a:off x="1494308" y="2369735"/>
            <a:ext cx="8348353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Внедрение автоматизированной базы данных в ресторан актуально по причине хранения большого объёма информации о заказах, меню, сотрудниках и прочего. Таким образом, внедрение базы данных положительно скажется на работе сотрудников, обеспечив удобный список меню и всех заказов.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A0C32F-659F-401C-82AE-8E5972498939}"/>
              </a:ext>
            </a:extLst>
          </p:cNvPr>
          <p:cNvSpPr txBox="1"/>
          <p:nvPr/>
        </p:nvSpPr>
        <p:spPr>
          <a:xfrm>
            <a:off x="1506183" y="5002081"/>
            <a:ext cx="8348353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Для разработки базы данных будет использоваться </a:t>
            </a:r>
            <a:r>
              <a:rPr lang="en-US" dirty="0"/>
              <a:t>SQL Server</a:t>
            </a:r>
            <a:r>
              <a:rPr lang="ru-RU" dirty="0"/>
              <a:t>. Он позволяет создавать удобные и практичные базы данных, хранящиеся на сервере, создание запросов к таблицам и их заполнение.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FB723C9-7DC8-4EB7-999C-9E88FF1A92B9}"/>
              </a:ext>
            </a:extLst>
          </p:cNvPr>
          <p:cNvSpPr/>
          <p:nvPr/>
        </p:nvSpPr>
        <p:spPr>
          <a:xfrm>
            <a:off x="676144" y="723288"/>
            <a:ext cx="798124" cy="794344"/>
          </a:xfrm>
          <a:prstGeom prst="rect">
            <a:avLst/>
          </a:prstGeom>
          <a:solidFill>
            <a:srgbClr val="40F6FA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5A0E5C3-83C2-4BEE-9928-D32FB0E6BA16}"/>
              </a:ext>
            </a:extLst>
          </p:cNvPr>
          <p:cNvSpPr/>
          <p:nvPr/>
        </p:nvSpPr>
        <p:spPr>
          <a:xfrm>
            <a:off x="677629" y="2984796"/>
            <a:ext cx="798124" cy="752746"/>
          </a:xfrm>
          <a:prstGeom prst="rect">
            <a:avLst/>
          </a:prstGeom>
          <a:solidFill>
            <a:srgbClr val="40FABE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8379B6D-D7B7-4682-8C98-13C4641C0524}"/>
              </a:ext>
            </a:extLst>
          </p:cNvPr>
          <p:cNvSpPr/>
          <p:nvPr/>
        </p:nvSpPr>
        <p:spPr>
          <a:xfrm>
            <a:off x="689504" y="5269474"/>
            <a:ext cx="798124" cy="752746"/>
          </a:xfrm>
          <a:prstGeom prst="rect">
            <a:avLst/>
          </a:prstGeom>
          <a:solidFill>
            <a:srgbClr val="40FA78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558608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3459678" y="11875"/>
            <a:ext cx="5601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Описание предметной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1207835157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Блок-схема: документ 1">
            <a:extLst>
              <a:ext uri="{FF2B5EF4-FFF2-40B4-BE49-F238E27FC236}">
                <a16:creationId xmlns:a16="http://schemas.microsoft.com/office/drawing/2014/main" id="{3D55FF31-7978-4719-90CB-2AA9D64E1459}"/>
              </a:ext>
            </a:extLst>
          </p:cNvPr>
          <p:cNvSpPr/>
          <p:nvPr/>
        </p:nvSpPr>
        <p:spPr>
          <a:xfrm rot="5400000">
            <a:off x="5113319" y="-220683"/>
            <a:ext cx="6857998" cy="7299367"/>
          </a:xfrm>
          <a:prstGeom prst="flowChartDocument">
            <a:avLst/>
          </a:prstGeom>
          <a:solidFill>
            <a:srgbClr val="3F4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-53104" y="-39275"/>
            <a:ext cx="5438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Описание предметной области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13BB9EB-57E5-44C4-9C95-7F858CB97C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5791346" y="785078"/>
            <a:ext cx="6294443" cy="5287844"/>
          </a:xfrm>
          <a:prstGeom prst="rect">
            <a:avLst/>
          </a:prstGeom>
          <a:noFill/>
          <a:ln w="57150">
            <a:solidFill>
              <a:srgbClr val="41B3F9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151712-7E08-4995-A15D-D1CEE835C44B}"/>
              </a:ext>
            </a:extLst>
          </p:cNvPr>
          <p:cNvSpPr txBox="1"/>
          <p:nvPr/>
        </p:nvSpPr>
        <p:spPr>
          <a:xfrm>
            <a:off x="0" y="688620"/>
            <a:ext cx="48926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Ресторан – заведение общественного питания с высокой кухней, имеет обширное и разнообразное меню, а также большой поток клиентов и, соответственно, заказов. Для хорошей работы ресторану требуется хранение заказов, с удобным для официантов оформлением этих же заказов, официанту требуется знать или иметь прямой доступ к меню всех блюд.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02B238B-567F-4888-887A-B378DC040613}"/>
              </a:ext>
            </a:extLst>
          </p:cNvPr>
          <p:cNvSpPr/>
          <p:nvPr/>
        </p:nvSpPr>
        <p:spPr>
          <a:xfrm>
            <a:off x="0" y="486893"/>
            <a:ext cx="5332021" cy="93340"/>
          </a:xfrm>
          <a:prstGeom prst="rect">
            <a:avLst/>
          </a:prstGeom>
          <a:solidFill>
            <a:srgbClr val="3F4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1D6A596-77CA-4673-9BD0-3E56166FB69D}"/>
              </a:ext>
            </a:extLst>
          </p:cNvPr>
          <p:cNvSpPr/>
          <p:nvPr/>
        </p:nvSpPr>
        <p:spPr>
          <a:xfrm>
            <a:off x="0" y="3382330"/>
            <a:ext cx="5593279" cy="93340"/>
          </a:xfrm>
          <a:prstGeom prst="rect">
            <a:avLst/>
          </a:prstGeom>
          <a:solidFill>
            <a:srgbClr val="3F4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724CA9-AA8C-4917-8288-48B34018B417}"/>
              </a:ext>
            </a:extLst>
          </p:cNvPr>
          <p:cNvSpPr txBox="1"/>
          <p:nvPr/>
        </p:nvSpPr>
        <p:spPr>
          <a:xfrm>
            <a:off x="95003" y="3716977"/>
            <a:ext cx="47976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База данных позволит хранить в себе различную полезную для заведения информацию: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79DBB5-6CA5-487F-8CCE-160E54D5547B}"/>
              </a:ext>
            </a:extLst>
          </p:cNvPr>
          <p:cNvSpPr txBox="1"/>
          <p:nvPr/>
        </p:nvSpPr>
        <p:spPr>
          <a:xfrm>
            <a:off x="546264" y="4643255"/>
            <a:ext cx="43463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rgbClr val="40FABE"/>
              </a:buClr>
              <a:buSzPct val="200000"/>
            </a:pPr>
            <a:r>
              <a:rPr lang="ru-RU" dirty="0"/>
              <a:t>Клиенты могут совершать бронь, которая записывается в базу данных;</a:t>
            </a:r>
          </a:p>
          <a:p>
            <a:pPr algn="just">
              <a:buClr>
                <a:srgbClr val="40FABE"/>
              </a:buClr>
              <a:buSzPct val="200000"/>
            </a:pPr>
            <a:r>
              <a:rPr lang="ru-RU" dirty="0"/>
              <a:t> </a:t>
            </a:r>
          </a:p>
          <a:p>
            <a:pPr algn="just">
              <a:buClr>
                <a:srgbClr val="40FABE"/>
              </a:buClr>
              <a:buSzPct val="200000"/>
            </a:pPr>
            <a:r>
              <a:rPr lang="ru-RU" dirty="0"/>
              <a:t>Обычные заказы в самом заведении;</a:t>
            </a:r>
          </a:p>
          <a:p>
            <a:pPr algn="just">
              <a:buClr>
                <a:srgbClr val="40FABE"/>
              </a:buClr>
              <a:buSzPct val="200000"/>
            </a:pPr>
            <a:endParaRPr lang="ru-RU" dirty="0"/>
          </a:p>
          <a:p>
            <a:pPr algn="just">
              <a:buClr>
                <a:srgbClr val="40FABE"/>
              </a:buClr>
              <a:buSzPct val="200000"/>
            </a:pPr>
            <a:r>
              <a:rPr lang="ru-RU" dirty="0"/>
              <a:t>Информация о сотрудниках и их графике работы.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B153017-9176-4CEE-A1DC-253D8632ECEC}"/>
              </a:ext>
            </a:extLst>
          </p:cNvPr>
          <p:cNvSpPr/>
          <p:nvPr/>
        </p:nvSpPr>
        <p:spPr>
          <a:xfrm>
            <a:off x="356258" y="4714505"/>
            <a:ext cx="237506" cy="237506"/>
          </a:xfrm>
          <a:prstGeom prst="rect">
            <a:avLst/>
          </a:prstGeom>
          <a:solidFill>
            <a:srgbClr val="40F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D9D253D-B282-4189-9DC5-5AE67497AE85}"/>
              </a:ext>
            </a:extLst>
          </p:cNvPr>
          <p:cNvSpPr/>
          <p:nvPr/>
        </p:nvSpPr>
        <p:spPr>
          <a:xfrm>
            <a:off x="356258" y="5556986"/>
            <a:ext cx="237506" cy="237506"/>
          </a:xfrm>
          <a:prstGeom prst="rect">
            <a:avLst/>
          </a:prstGeom>
          <a:solidFill>
            <a:srgbClr val="40F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53F008-C862-4120-9B76-B2A5D6AC5643}"/>
              </a:ext>
            </a:extLst>
          </p:cNvPr>
          <p:cNvSpPr/>
          <p:nvPr/>
        </p:nvSpPr>
        <p:spPr>
          <a:xfrm>
            <a:off x="356258" y="6068282"/>
            <a:ext cx="237506" cy="237506"/>
          </a:xfrm>
          <a:prstGeom prst="rect">
            <a:avLst/>
          </a:prstGeom>
          <a:solidFill>
            <a:srgbClr val="40FA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20126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3459678" y="11875"/>
            <a:ext cx="5272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Проектирование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1184000354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авнобедренный треугольник 4">
            <a:extLst>
              <a:ext uri="{FF2B5EF4-FFF2-40B4-BE49-F238E27FC236}">
                <a16:creationId xmlns:a16="http://schemas.microsoft.com/office/drawing/2014/main" id="{73D030D1-3596-4C4B-8FE8-4DF98E7DCCB2}"/>
              </a:ext>
            </a:extLst>
          </p:cNvPr>
          <p:cNvSpPr/>
          <p:nvPr/>
        </p:nvSpPr>
        <p:spPr>
          <a:xfrm rot="10800000" flipH="1">
            <a:off x="0" y="0"/>
            <a:ext cx="12192000" cy="5978842"/>
          </a:xfrm>
          <a:prstGeom prst="triangle">
            <a:avLst/>
          </a:prstGeom>
          <a:solidFill>
            <a:srgbClr val="C7C7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Равнобедренный треугольник 1">
            <a:extLst>
              <a:ext uri="{FF2B5EF4-FFF2-40B4-BE49-F238E27FC236}">
                <a16:creationId xmlns:a16="http://schemas.microsoft.com/office/drawing/2014/main" id="{3B49CF80-A8B6-4996-825D-E9EFF00E013F}"/>
              </a:ext>
            </a:extLst>
          </p:cNvPr>
          <p:cNvSpPr/>
          <p:nvPr/>
        </p:nvSpPr>
        <p:spPr>
          <a:xfrm flipH="1">
            <a:off x="0" y="879158"/>
            <a:ext cx="12192000" cy="5978842"/>
          </a:xfrm>
          <a:prstGeom prst="triangle">
            <a:avLst/>
          </a:prstGeom>
          <a:solidFill>
            <a:srgbClr val="A1A1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3459678" y="11875"/>
            <a:ext cx="5272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Инфологическая модель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7E99D1-A9B5-44EF-9AC0-C663E0311C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584320" y="701350"/>
            <a:ext cx="11023357" cy="5812588"/>
          </a:xfrm>
          <a:prstGeom prst="rect">
            <a:avLst/>
          </a:prstGeom>
          <a:noFill/>
          <a:ln w="57150">
            <a:solidFill>
              <a:srgbClr val="40F6FA"/>
            </a:solidFill>
          </a:ln>
        </p:spPr>
      </p:pic>
    </p:spTree>
    <p:extLst>
      <p:ext uri="{BB962C8B-B14F-4D97-AF65-F5344CB8AC3E}">
        <p14:creationId xmlns:p14="http://schemas.microsoft.com/office/powerpoint/2010/main" val="86538489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FEEB139-FE40-4721-97DD-1124795E6EC3}"/>
              </a:ext>
            </a:extLst>
          </p:cNvPr>
          <p:cNvSpPr/>
          <p:nvPr/>
        </p:nvSpPr>
        <p:spPr>
          <a:xfrm>
            <a:off x="0" y="0"/>
            <a:ext cx="7568540" cy="6858000"/>
          </a:xfrm>
          <a:prstGeom prst="rect">
            <a:avLst/>
          </a:prstGeom>
          <a:solidFill>
            <a:srgbClr val="3F4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7568540" y="0"/>
            <a:ext cx="4623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Реализация базы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86F5E-C964-47A6-A18D-71AA082580A8}"/>
              </a:ext>
            </a:extLst>
          </p:cNvPr>
          <p:cNvSpPr txBox="1"/>
          <p:nvPr/>
        </p:nvSpPr>
        <p:spPr>
          <a:xfrm>
            <a:off x="383967" y="2233972"/>
            <a:ext cx="65155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 TABLE Food (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FoodID</a:t>
            </a:r>
            <a:r>
              <a:rPr lang="en-US" dirty="0">
                <a:solidFill>
                  <a:schemeClr val="bg1"/>
                </a:solidFill>
              </a:rPr>
              <a:t> INT PRIMARY KEY CLUSTERED IDENTITY(1, 1),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Name VARCHAR(100) NOT NULL,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Description TEXT,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Price SMALLMONEY NOT NULL check(Price &gt; 0),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Ingredients TEXT,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Weight DECIMAL(10, 2) check(Weight &gt; 0),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Availability BIT,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CategoryID</a:t>
            </a:r>
            <a:r>
              <a:rPr lang="en-US" dirty="0">
                <a:solidFill>
                  <a:schemeClr val="bg1"/>
                </a:solidFill>
              </a:rPr>
              <a:t> INT,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FOREIGN KEY (</a:t>
            </a:r>
            <a:r>
              <a:rPr lang="en-US" dirty="0" err="1">
                <a:solidFill>
                  <a:schemeClr val="bg1"/>
                </a:solidFill>
              </a:rPr>
              <a:t>CategoryID</a:t>
            </a:r>
            <a:r>
              <a:rPr lang="en-US" dirty="0">
                <a:solidFill>
                  <a:schemeClr val="bg1"/>
                </a:solidFill>
              </a:rPr>
              <a:t>) REFERENCES Category(</a:t>
            </a:r>
            <a:r>
              <a:rPr lang="en-US" dirty="0" err="1">
                <a:solidFill>
                  <a:schemeClr val="bg1"/>
                </a:solidFill>
              </a:rPr>
              <a:t>CategoryID</a:t>
            </a:r>
            <a:r>
              <a:rPr lang="en-US" dirty="0">
                <a:solidFill>
                  <a:schemeClr val="bg1"/>
                </a:solidFill>
              </a:rPr>
              <a:t>) ON DELETE CASCADE ON UPDATE CASCADE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DEB31-BDFC-4FF0-B788-308BA943F7F3}"/>
              </a:ext>
            </a:extLst>
          </p:cNvPr>
          <p:cNvSpPr txBox="1"/>
          <p:nvPr/>
        </p:nvSpPr>
        <p:spPr>
          <a:xfrm>
            <a:off x="383967" y="911379"/>
            <a:ext cx="42236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SQL </a:t>
            </a:r>
            <a:r>
              <a:rPr lang="ru-RU" sz="3600" dirty="0">
                <a:solidFill>
                  <a:schemeClr val="bg1"/>
                </a:solidFill>
              </a:rPr>
              <a:t>код на создание таблицы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991CECD6-F01A-48B8-BBED-BF1114721053}"/>
              </a:ext>
            </a:extLst>
          </p:cNvPr>
          <p:cNvGrpSpPr/>
          <p:nvPr/>
        </p:nvGrpSpPr>
        <p:grpSpPr>
          <a:xfrm>
            <a:off x="6693720" y="533371"/>
            <a:ext cx="1702575" cy="1607541"/>
            <a:chOff x="6693720" y="533371"/>
            <a:chExt cx="1702575" cy="1607541"/>
          </a:xfrm>
          <a:solidFill>
            <a:srgbClr val="40F6FA"/>
          </a:solidFill>
        </p:grpSpPr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C5618568-F053-4BF3-8403-D20698A5726F}"/>
                </a:ext>
              </a:extLst>
            </p:cNvPr>
            <p:cNvSpPr/>
            <p:nvPr/>
          </p:nvSpPr>
          <p:spPr>
            <a:xfrm>
              <a:off x="6693720" y="533371"/>
              <a:ext cx="1702575" cy="16075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031A1AD-B286-470D-9B1A-142790D5B0AF}"/>
                </a:ext>
              </a:extLst>
            </p:cNvPr>
            <p:cNvSpPr txBox="1"/>
            <p:nvPr/>
          </p:nvSpPr>
          <p:spPr>
            <a:xfrm>
              <a:off x="6717248" y="1172989"/>
              <a:ext cx="1655516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b="1" dirty="0">
                  <a:ln w="0">
                    <a:noFill/>
                  </a:ln>
                </a:rPr>
                <a:t>ИНДЕКСАЦИЯ</a:t>
              </a:r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0C2743B0-847C-4AFE-835D-C3193A2900B0}"/>
              </a:ext>
            </a:extLst>
          </p:cNvPr>
          <p:cNvGrpSpPr/>
          <p:nvPr/>
        </p:nvGrpSpPr>
        <p:grpSpPr>
          <a:xfrm>
            <a:off x="6717248" y="2625229"/>
            <a:ext cx="1702575" cy="1607541"/>
            <a:chOff x="6693720" y="533371"/>
            <a:chExt cx="1702575" cy="1607541"/>
          </a:xfrm>
          <a:solidFill>
            <a:srgbClr val="40FABE"/>
          </a:solidFill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9B018AED-FC40-4D4B-9293-D50DD0D6FE97}"/>
                </a:ext>
              </a:extLst>
            </p:cNvPr>
            <p:cNvSpPr/>
            <p:nvPr/>
          </p:nvSpPr>
          <p:spPr>
            <a:xfrm>
              <a:off x="6693720" y="533371"/>
              <a:ext cx="1702575" cy="16075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9A51F73-B245-4A04-9B80-318A6FFDAB54}"/>
                </a:ext>
              </a:extLst>
            </p:cNvPr>
            <p:cNvSpPr txBox="1"/>
            <p:nvPr/>
          </p:nvSpPr>
          <p:spPr>
            <a:xfrm>
              <a:off x="6717248" y="1172989"/>
              <a:ext cx="1655516" cy="3231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500" b="1" dirty="0"/>
                <a:t>ОГРАНИЧЕНИЯ</a:t>
              </a:r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C47AC8CB-6DFB-41CA-B7E3-4602AD845DB7}"/>
              </a:ext>
            </a:extLst>
          </p:cNvPr>
          <p:cNvGrpSpPr/>
          <p:nvPr/>
        </p:nvGrpSpPr>
        <p:grpSpPr>
          <a:xfrm>
            <a:off x="6693717" y="4711007"/>
            <a:ext cx="1702575" cy="1607541"/>
            <a:chOff x="6693720" y="533371"/>
            <a:chExt cx="1702575" cy="1607541"/>
          </a:xfrm>
          <a:solidFill>
            <a:srgbClr val="40FA78"/>
          </a:solidFill>
        </p:grpSpPr>
        <p:sp>
          <p:nvSpPr>
            <p:cNvPr id="18" name="Овал 17">
              <a:extLst>
                <a:ext uri="{FF2B5EF4-FFF2-40B4-BE49-F238E27FC236}">
                  <a16:creationId xmlns:a16="http://schemas.microsoft.com/office/drawing/2014/main" id="{81307417-DF4B-45C8-A711-55E78407E7DB}"/>
                </a:ext>
              </a:extLst>
            </p:cNvPr>
            <p:cNvSpPr/>
            <p:nvPr/>
          </p:nvSpPr>
          <p:spPr>
            <a:xfrm>
              <a:off x="6693720" y="533371"/>
              <a:ext cx="1702575" cy="16075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C9C545E-3E2A-40DC-AD4B-18CA2524259B}"/>
                </a:ext>
              </a:extLst>
            </p:cNvPr>
            <p:cNvSpPr txBox="1"/>
            <p:nvPr/>
          </p:nvSpPr>
          <p:spPr>
            <a:xfrm>
              <a:off x="6717248" y="1172989"/>
              <a:ext cx="1655516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b="1" dirty="0"/>
                <a:t>СВЯЗИ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4CE414F-8EA1-4481-81A6-8958341031B9}"/>
              </a:ext>
            </a:extLst>
          </p:cNvPr>
          <p:cNvSpPr txBox="1"/>
          <p:nvPr/>
        </p:nvSpPr>
        <p:spPr>
          <a:xfrm>
            <a:off x="8518567" y="1152475"/>
            <a:ext cx="3380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CLUSTERED IDENTITY(1, 1)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AA3C19-53D8-4353-999A-C295B7887F5B}"/>
              </a:ext>
            </a:extLst>
          </p:cNvPr>
          <p:cNvSpPr txBox="1"/>
          <p:nvPr/>
        </p:nvSpPr>
        <p:spPr>
          <a:xfrm>
            <a:off x="8518568" y="3103263"/>
            <a:ext cx="3380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NULL </a:t>
            </a:r>
            <a:endParaRPr lang="ru-RU" dirty="0"/>
          </a:p>
          <a:p>
            <a:r>
              <a:rPr lang="en-US" dirty="0"/>
              <a:t>CHECK(Price &gt; 0)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147DF6-E296-41CC-9ECA-DBF5D420FA36}"/>
              </a:ext>
            </a:extLst>
          </p:cNvPr>
          <p:cNvSpPr txBox="1"/>
          <p:nvPr/>
        </p:nvSpPr>
        <p:spPr>
          <a:xfrm>
            <a:off x="8518568" y="5191611"/>
            <a:ext cx="3380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FOREIGN KEY (</a:t>
            </a:r>
            <a:r>
              <a:rPr lang="en-US" dirty="0" err="1"/>
              <a:t>CategoryID</a:t>
            </a:r>
            <a:r>
              <a:rPr lang="en-US" dirty="0"/>
              <a:t>)  </a:t>
            </a:r>
          </a:p>
          <a:p>
            <a:r>
              <a:rPr lang="en-US" dirty="0"/>
              <a:t>REFERENCES Category(CID)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282074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FEEB139-FE40-4721-97DD-1124795E6EC3}"/>
              </a:ext>
            </a:extLst>
          </p:cNvPr>
          <p:cNvSpPr/>
          <p:nvPr/>
        </p:nvSpPr>
        <p:spPr>
          <a:xfrm>
            <a:off x="0" y="2211802"/>
            <a:ext cx="12192000" cy="4646198"/>
          </a:xfrm>
          <a:custGeom>
            <a:avLst/>
            <a:gdLst>
              <a:gd name="connsiteX0" fmla="*/ 0 w 12192000"/>
              <a:gd name="connsiteY0" fmla="*/ 0 h 2853024"/>
              <a:gd name="connsiteX1" fmla="*/ 12192000 w 12192000"/>
              <a:gd name="connsiteY1" fmla="*/ 0 h 2853024"/>
              <a:gd name="connsiteX2" fmla="*/ 12192000 w 12192000"/>
              <a:gd name="connsiteY2" fmla="*/ 2853024 h 2853024"/>
              <a:gd name="connsiteX3" fmla="*/ 0 w 12192000"/>
              <a:gd name="connsiteY3" fmla="*/ 2853024 h 2853024"/>
              <a:gd name="connsiteX4" fmla="*/ 0 w 12192000"/>
              <a:gd name="connsiteY4" fmla="*/ 0 h 2853024"/>
              <a:gd name="connsiteX0" fmla="*/ 0 w 12192000"/>
              <a:gd name="connsiteY0" fmla="*/ 1793174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0 w 12192000"/>
              <a:gd name="connsiteY4" fmla="*/ 1793174 h 4646198"/>
              <a:gd name="connsiteX0" fmla="*/ 0 w 12192000"/>
              <a:gd name="connsiteY0" fmla="*/ 1793174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0 w 12192000"/>
              <a:gd name="connsiteY4" fmla="*/ 1793174 h 4646198"/>
              <a:gd name="connsiteX0" fmla="*/ 11875 w 12192000"/>
              <a:gd name="connsiteY0" fmla="*/ 2303813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11875 w 12192000"/>
              <a:gd name="connsiteY4" fmla="*/ 2303813 h 4646198"/>
              <a:gd name="connsiteX0" fmla="*/ 11875 w 12192000"/>
              <a:gd name="connsiteY0" fmla="*/ 2303813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11875 w 12192000"/>
              <a:gd name="connsiteY4" fmla="*/ 2303813 h 4646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4646198">
                <a:moveTo>
                  <a:pt x="11875" y="2303813"/>
                </a:moveTo>
                <a:cubicBezTo>
                  <a:pt x="2789382" y="447304"/>
                  <a:pt x="11599553" y="3032166"/>
                  <a:pt x="12180125" y="0"/>
                </a:cubicBezTo>
                <a:cubicBezTo>
                  <a:pt x="12184083" y="1548733"/>
                  <a:pt x="12188042" y="3097465"/>
                  <a:pt x="12192000" y="4646198"/>
                </a:cubicBezTo>
                <a:lnTo>
                  <a:pt x="0" y="4646198"/>
                </a:lnTo>
                <a:cubicBezTo>
                  <a:pt x="3958" y="3865403"/>
                  <a:pt x="7917" y="3084608"/>
                  <a:pt x="11875" y="2303813"/>
                </a:cubicBezTo>
                <a:close/>
              </a:path>
            </a:pathLst>
          </a:custGeom>
          <a:solidFill>
            <a:srgbClr val="3F4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86F5E-C964-47A6-A18D-71AA082580A8}"/>
              </a:ext>
            </a:extLst>
          </p:cNvPr>
          <p:cNvSpPr txBox="1"/>
          <p:nvPr/>
        </p:nvSpPr>
        <p:spPr>
          <a:xfrm>
            <a:off x="188771" y="1632752"/>
            <a:ext cx="118144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INTO Food (Name, Description, Price, Ingredients, Weight, Availability, </a:t>
            </a:r>
            <a:r>
              <a:rPr lang="en-US" dirty="0" err="1"/>
              <a:t>CategoryID</a:t>
            </a:r>
            <a:r>
              <a:rPr lang="en-US" dirty="0"/>
              <a:t>)</a:t>
            </a:r>
          </a:p>
          <a:p>
            <a:r>
              <a:rPr lang="en-US" dirty="0"/>
              <a:t>VALUES</a:t>
            </a:r>
          </a:p>
          <a:p>
            <a:r>
              <a:rPr lang="ru-RU" dirty="0"/>
              <a:t>('Борщ', 'Классический украинский борщ', 250.00, 'Свекла, капуста, мясо', 400.00, 1, 1),</a:t>
            </a:r>
          </a:p>
          <a:p>
            <a:r>
              <a:rPr lang="ru-RU" dirty="0"/>
              <a:t>('Том Ям', 'Острый тайский суп', 300.00, 'Креветки, кокосовое молоко, имбирь', 350.00, 1, 1),</a:t>
            </a:r>
          </a:p>
          <a:p>
            <a:r>
              <a:rPr lang="ru-RU" dirty="0"/>
              <a:t>('Сырный суп', 'Сливочный суп с брокколи', 200.00, 'Сыр, брокколи, сливки', 300.00, 1, 1),</a:t>
            </a:r>
          </a:p>
          <a:p>
            <a:r>
              <a:rPr lang="ru-RU" dirty="0"/>
              <a:t>('Грибной крем-суп', 'Ароматный суп с шампиньонами', 180.00, 'Шампиньоны, лук, сливки', 320.00, 1, 1)</a:t>
            </a:r>
          </a:p>
          <a:p>
            <a:r>
              <a:rPr lang="ru-RU" b="1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DEB31-BDFC-4FF0-B788-308BA943F7F3}"/>
              </a:ext>
            </a:extLst>
          </p:cNvPr>
          <p:cNvSpPr txBox="1"/>
          <p:nvPr/>
        </p:nvSpPr>
        <p:spPr>
          <a:xfrm>
            <a:off x="188771" y="257774"/>
            <a:ext cx="48226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SQL </a:t>
            </a:r>
            <a:r>
              <a:rPr lang="ru-RU" sz="3600" dirty="0"/>
              <a:t>код на заполнение таблицы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47D6F9A-4D6A-452E-BCC1-F1DA6BB668B6}"/>
              </a:ext>
            </a:extLst>
          </p:cNvPr>
          <p:cNvPicPr/>
          <p:nvPr/>
        </p:nvPicPr>
        <p:blipFill rotWithShape="1">
          <a:blip r:embed="rId2"/>
          <a:srcRect t="-2" b="83910"/>
          <a:stretch/>
        </p:blipFill>
        <p:spPr bwMode="auto">
          <a:xfrm>
            <a:off x="120244" y="4717530"/>
            <a:ext cx="11951512" cy="1427916"/>
          </a:xfrm>
          <a:prstGeom prst="rect">
            <a:avLst/>
          </a:prstGeom>
          <a:noFill/>
          <a:ln w="57150">
            <a:solidFill>
              <a:srgbClr val="40F6FA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8603673" y="-16678"/>
            <a:ext cx="3487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Заполнение таблиц</a:t>
            </a:r>
          </a:p>
        </p:txBody>
      </p:sp>
    </p:spTree>
    <p:extLst>
      <p:ext uri="{BB962C8B-B14F-4D97-AF65-F5344CB8AC3E}">
        <p14:creationId xmlns:p14="http://schemas.microsoft.com/office/powerpoint/2010/main" val="3892958266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FEEB139-FE40-4721-97DD-1124795E6EC3}"/>
              </a:ext>
            </a:extLst>
          </p:cNvPr>
          <p:cNvSpPr/>
          <p:nvPr/>
        </p:nvSpPr>
        <p:spPr>
          <a:xfrm rot="10800000">
            <a:off x="0" y="-16679"/>
            <a:ext cx="12192000" cy="6162124"/>
          </a:xfrm>
          <a:custGeom>
            <a:avLst/>
            <a:gdLst>
              <a:gd name="connsiteX0" fmla="*/ 0 w 12192000"/>
              <a:gd name="connsiteY0" fmla="*/ 0 h 2853024"/>
              <a:gd name="connsiteX1" fmla="*/ 12192000 w 12192000"/>
              <a:gd name="connsiteY1" fmla="*/ 0 h 2853024"/>
              <a:gd name="connsiteX2" fmla="*/ 12192000 w 12192000"/>
              <a:gd name="connsiteY2" fmla="*/ 2853024 h 2853024"/>
              <a:gd name="connsiteX3" fmla="*/ 0 w 12192000"/>
              <a:gd name="connsiteY3" fmla="*/ 2853024 h 2853024"/>
              <a:gd name="connsiteX4" fmla="*/ 0 w 12192000"/>
              <a:gd name="connsiteY4" fmla="*/ 0 h 2853024"/>
              <a:gd name="connsiteX0" fmla="*/ 0 w 12192000"/>
              <a:gd name="connsiteY0" fmla="*/ 1793174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0 w 12192000"/>
              <a:gd name="connsiteY4" fmla="*/ 1793174 h 4646198"/>
              <a:gd name="connsiteX0" fmla="*/ 0 w 12192000"/>
              <a:gd name="connsiteY0" fmla="*/ 1793174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0 w 12192000"/>
              <a:gd name="connsiteY4" fmla="*/ 1793174 h 4646198"/>
              <a:gd name="connsiteX0" fmla="*/ 11875 w 12192000"/>
              <a:gd name="connsiteY0" fmla="*/ 2303813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11875 w 12192000"/>
              <a:gd name="connsiteY4" fmla="*/ 2303813 h 4646198"/>
              <a:gd name="connsiteX0" fmla="*/ 11875 w 12192000"/>
              <a:gd name="connsiteY0" fmla="*/ 2303813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11875 w 12192000"/>
              <a:gd name="connsiteY4" fmla="*/ 2303813 h 4646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4646198">
                <a:moveTo>
                  <a:pt x="11875" y="2303813"/>
                </a:moveTo>
                <a:cubicBezTo>
                  <a:pt x="2789382" y="447304"/>
                  <a:pt x="11599553" y="3032166"/>
                  <a:pt x="12180125" y="0"/>
                </a:cubicBezTo>
                <a:cubicBezTo>
                  <a:pt x="12184083" y="1548733"/>
                  <a:pt x="12188042" y="3097465"/>
                  <a:pt x="12192000" y="4646198"/>
                </a:cubicBezTo>
                <a:lnTo>
                  <a:pt x="0" y="4646198"/>
                </a:lnTo>
                <a:cubicBezTo>
                  <a:pt x="3958" y="3865403"/>
                  <a:pt x="7917" y="3084608"/>
                  <a:pt x="11875" y="2303813"/>
                </a:cubicBezTo>
                <a:close/>
              </a:path>
            </a:pathLst>
          </a:custGeom>
          <a:solidFill>
            <a:srgbClr val="3F40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86F5E-C964-47A6-A18D-71AA082580A8}"/>
              </a:ext>
            </a:extLst>
          </p:cNvPr>
          <p:cNvSpPr txBox="1"/>
          <p:nvPr/>
        </p:nvSpPr>
        <p:spPr>
          <a:xfrm>
            <a:off x="0" y="973631"/>
            <a:ext cx="111769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WITH Temp AS (</a:t>
            </a:r>
            <a:endParaRPr lang="ru-RU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SELECT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Food.FoodID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Food.Name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Category.CategoryName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, SUM(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OrderedFood.Quantity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*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OrderedFood.Price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) AS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FoodPrice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,</a:t>
            </a:r>
            <a:endParaRPr lang="ru-RU" sz="18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(SELECT SUM(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TotalPrice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) FROM Orders) AS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TotalPrice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</a:t>
            </a:r>
            <a:endParaRPr lang="ru-RU" sz="18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OrderedFood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INNER JOIN Food ON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OrderedFood.FoodID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Food.FoodID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INNER JOIN Category ON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Food.CategoryID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=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Category.CategoryID</a:t>
            </a:r>
            <a:endParaRPr lang="ru-RU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GROUP BY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Food.FoodID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Food.Name</a:t>
            </a:r>
            <a:r>
              <a:rPr lang="en-US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Category.CategoryName</a:t>
            </a:r>
            <a:endParaRPr lang="ru-RU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)</a:t>
            </a:r>
            <a:endParaRPr lang="ru-RU" sz="18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SELECT TOP 3 *, (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FoodPrice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/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TotalPrice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) * 100 AS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TotalPiece</a:t>
            </a:r>
            <a:endParaRPr lang="ru-RU" sz="18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FROM Temp</a:t>
            </a:r>
            <a:endParaRPr lang="ru-RU" sz="18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ORDER BY </a:t>
            </a:r>
            <a:r>
              <a:rPr lang="en-US" sz="1800" dirty="0" err="1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TotalPiece</a:t>
            </a:r>
            <a:r>
              <a:rPr lang="en-US" sz="1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 DESC;</a:t>
            </a:r>
            <a:endParaRPr lang="ru-RU" sz="18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DEB31-BDFC-4FF0-B788-308BA943F7F3}"/>
              </a:ext>
            </a:extLst>
          </p:cNvPr>
          <p:cNvSpPr txBox="1"/>
          <p:nvPr/>
        </p:nvSpPr>
        <p:spPr>
          <a:xfrm>
            <a:off x="127573" y="327300"/>
            <a:ext cx="9882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SQL </a:t>
            </a:r>
            <a:r>
              <a:rPr lang="ru-RU" sz="3600" dirty="0">
                <a:solidFill>
                  <a:schemeClr val="bg1"/>
                </a:solidFill>
              </a:rPr>
              <a:t>код запроса на поиск прибыльных блюд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A77F313-C150-4314-8059-8BB0D238A0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731388" y="4515432"/>
            <a:ext cx="10729224" cy="1883575"/>
          </a:xfrm>
          <a:prstGeom prst="rect">
            <a:avLst/>
          </a:prstGeom>
          <a:noFill/>
          <a:ln w="57150">
            <a:solidFill>
              <a:srgbClr val="40F6FA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7633AD-D10A-4E70-AD9D-28D5D712AABA}"/>
              </a:ext>
            </a:extLst>
          </p:cNvPr>
          <p:cNvSpPr txBox="1"/>
          <p:nvPr/>
        </p:nvSpPr>
        <p:spPr>
          <a:xfrm>
            <a:off x="8973037" y="-72810"/>
            <a:ext cx="3346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Запросы и представления</a:t>
            </a:r>
          </a:p>
        </p:txBody>
      </p:sp>
    </p:spTree>
    <p:extLst>
      <p:ext uri="{BB962C8B-B14F-4D97-AF65-F5344CB8AC3E}">
        <p14:creationId xmlns:p14="http://schemas.microsoft.com/office/powerpoint/2010/main" val="3439085893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FEEB139-FE40-4721-97DD-1124795E6EC3}"/>
              </a:ext>
            </a:extLst>
          </p:cNvPr>
          <p:cNvSpPr>
            <a:spLocks/>
          </p:cNvSpPr>
          <p:nvPr/>
        </p:nvSpPr>
        <p:spPr>
          <a:xfrm rot="10800000" flipH="1">
            <a:off x="0" y="-16680"/>
            <a:ext cx="12192000" cy="4224696"/>
          </a:xfrm>
          <a:custGeom>
            <a:avLst/>
            <a:gdLst>
              <a:gd name="connsiteX0" fmla="*/ 0 w 12192000"/>
              <a:gd name="connsiteY0" fmla="*/ 0 h 2853024"/>
              <a:gd name="connsiteX1" fmla="*/ 12192000 w 12192000"/>
              <a:gd name="connsiteY1" fmla="*/ 0 h 2853024"/>
              <a:gd name="connsiteX2" fmla="*/ 12192000 w 12192000"/>
              <a:gd name="connsiteY2" fmla="*/ 2853024 h 2853024"/>
              <a:gd name="connsiteX3" fmla="*/ 0 w 12192000"/>
              <a:gd name="connsiteY3" fmla="*/ 2853024 h 2853024"/>
              <a:gd name="connsiteX4" fmla="*/ 0 w 12192000"/>
              <a:gd name="connsiteY4" fmla="*/ 0 h 2853024"/>
              <a:gd name="connsiteX0" fmla="*/ 0 w 12192000"/>
              <a:gd name="connsiteY0" fmla="*/ 1793174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0 w 12192000"/>
              <a:gd name="connsiteY4" fmla="*/ 1793174 h 4646198"/>
              <a:gd name="connsiteX0" fmla="*/ 0 w 12192000"/>
              <a:gd name="connsiteY0" fmla="*/ 1793174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0 w 12192000"/>
              <a:gd name="connsiteY4" fmla="*/ 1793174 h 4646198"/>
              <a:gd name="connsiteX0" fmla="*/ 11875 w 12192000"/>
              <a:gd name="connsiteY0" fmla="*/ 2303813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11875 w 12192000"/>
              <a:gd name="connsiteY4" fmla="*/ 2303813 h 4646198"/>
              <a:gd name="connsiteX0" fmla="*/ 11875 w 12192000"/>
              <a:gd name="connsiteY0" fmla="*/ 2303813 h 4646198"/>
              <a:gd name="connsiteX1" fmla="*/ 12180125 w 12192000"/>
              <a:gd name="connsiteY1" fmla="*/ 0 h 4646198"/>
              <a:gd name="connsiteX2" fmla="*/ 12192000 w 12192000"/>
              <a:gd name="connsiteY2" fmla="*/ 4646198 h 4646198"/>
              <a:gd name="connsiteX3" fmla="*/ 0 w 12192000"/>
              <a:gd name="connsiteY3" fmla="*/ 4646198 h 4646198"/>
              <a:gd name="connsiteX4" fmla="*/ 11875 w 12192000"/>
              <a:gd name="connsiteY4" fmla="*/ 2303813 h 4646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4646198">
                <a:moveTo>
                  <a:pt x="11875" y="2303813"/>
                </a:moveTo>
                <a:cubicBezTo>
                  <a:pt x="2789382" y="447304"/>
                  <a:pt x="11599553" y="3032166"/>
                  <a:pt x="12180125" y="0"/>
                </a:cubicBezTo>
                <a:cubicBezTo>
                  <a:pt x="12184083" y="1548733"/>
                  <a:pt x="12188042" y="3097465"/>
                  <a:pt x="12192000" y="4646198"/>
                </a:cubicBezTo>
                <a:lnTo>
                  <a:pt x="0" y="4646198"/>
                </a:lnTo>
                <a:cubicBezTo>
                  <a:pt x="3958" y="3865403"/>
                  <a:pt x="7917" y="3084608"/>
                  <a:pt x="11875" y="2303813"/>
                </a:cubicBezTo>
                <a:close/>
              </a:path>
            </a:pathLst>
          </a:custGeom>
          <a:solidFill>
            <a:srgbClr val="3F405A"/>
          </a:solidFill>
          <a:ln>
            <a:noFill/>
          </a:ln>
          <a:scene3d>
            <a:camera prst="orthographicFront">
              <a:rot lat="0" lon="6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86F5E-C964-47A6-A18D-71AA082580A8}"/>
              </a:ext>
            </a:extLst>
          </p:cNvPr>
          <p:cNvSpPr txBox="1"/>
          <p:nvPr/>
        </p:nvSpPr>
        <p:spPr>
          <a:xfrm>
            <a:off x="0" y="3912769"/>
            <a:ext cx="111769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dirty="0">
                <a:effectLst/>
                <a:ea typeface="Times New Roman" panose="02020603050405020304" pitchFamily="18" charset="0"/>
              </a:rPr>
              <a:t>CREATE VIEW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WorkersInfo</a:t>
            </a:r>
            <a:r>
              <a:rPr lang="en-US" dirty="0">
                <a:effectLst/>
                <a:ea typeface="Times New Roman" panose="02020603050405020304" pitchFamily="18" charset="0"/>
              </a:rPr>
              <a:t> AS</a:t>
            </a:r>
          </a:p>
          <a:p>
            <a:pPr marL="457200"/>
            <a:r>
              <a:rPr lang="en-US" dirty="0">
                <a:effectLst/>
                <a:ea typeface="Times New Roman" panose="02020603050405020304" pitchFamily="18" charset="0"/>
              </a:rPr>
              <a:t>SELECT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Workers.WorkerID</a:t>
            </a:r>
            <a:r>
              <a:rPr lang="en-US" dirty="0">
                <a:effectLst/>
                <a:ea typeface="Times New Roman" panose="02020603050405020304" pitchFamily="18" charset="0"/>
              </a:rPr>
              <a:t>, CONCAT(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Workers.LastName</a:t>
            </a:r>
            <a:r>
              <a:rPr lang="en-US" dirty="0">
                <a:effectLst/>
                <a:ea typeface="Times New Roman" panose="02020603050405020304" pitchFamily="18" charset="0"/>
              </a:rPr>
              <a:t>, ' ',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Workers.FirstName</a:t>
            </a:r>
            <a:r>
              <a:rPr lang="en-US" dirty="0">
                <a:effectLst/>
                <a:ea typeface="Times New Roman" panose="02020603050405020304" pitchFamily="18" charset="0"/>
              </a:rPr>
              <a:t>, ' ',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Workers.FatherName</a:t>
            </a:r>
            <a:r>
              <a:rPr lang="en-US" dirty="0">
                <a:effectLst/>
                <a:ea typeface="Times New Roman" panose="02020603050405020304" pitchFamily="18" charset="0"/>
              </a:rPr>
              <a:t>) AS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FullName</a:t>
            </a:r>
            <a:r>
              <a:rPr lang="en-US" dirty="0">
                <a:effectLst/>
                <a:ea typeface="Times New Roman" panose="02020603050405020304" pitchFamily="18" charset="0"/>
              </a:rPr>
              <a:t>, CONCAT(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Addres.City</a:t>
            </a:r>
            <a:r>
              <a:rPr lang="en-US" dirty="0">
                <a:effectLst/>
                <a:ea typeface="Times New Roman" panose="02020603050405020304" pitchFamily="18" charset="0"/>
              </a:rPr>
              <a:t>, ', ',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Addres.Street</a:t>
            </a:r>
            <a:r>
              <a:rPr lang="en-US" dirty="0">
                <a:effectLst/>
                <a:ea typeface="Times New Roman" panose="02020603050405020304" pitchFamily="18" charset="0"/>
              </a:rPr>
              <a:t>, ', </a:t>
            </a:r>
            <a:r>
              <a:rPr lang="ru-RU" dirty="0">
                <a:effectLst/>
                <a:ea typeface="Times New Roman" panose="02020603050405020304" pitchFamily="18" charset="0"/>
              </a:rPr>
              <a:t>д. ',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Addres.House</a:t>
            </a:r>
            <a:r>
              <a:rPr lang="en-US" dirty="0">
                <a:effectLst/>
                <a:ea typeface="Times New Roman" panose="02020603050405020304" pitchFamily="18" charset="0"/>
              </a:rPr>
              <a:t>) AS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FullAddress</a:t>
            </a:r>
            <a:r>
              <a:rPr lang="en-US" dirty="0">
                <a:effectLst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WorkDays.WorkingDays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dirty="0">
                <a:effectLst/>
                <a:ea typeface="Times New Roman" panose="02020603050405020304" pitchFamily="18" charset="0"/>
              </a:rPr>
              <a:t>FROM Workers </a:t>
            </a:r>
          </a:p>
          <a:p>
            <a:pPr marL="457200"/>
            <a:r>
              <a:rPr lang="en-US" dirty="0">
                <a:effectLst/>
                <a:ea typeface="Times New Roman" panose="02020603050405020304" pitchFamily="18" charset="0"/>
              </a:rPr>
              <a:t>INNER JOIN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Addres</a:t>
            </a:r>
            <a:r>
              <a:rPr lang="en-US" dirty="0">
                <a:effectLst/>
                <a:ea typeface="Times New Roman" panose="02020603050405020304" pitchFamily="18" charset="0"/>
              </a:rPr>
              <a:t> ON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Workers.AddresID</a:t>
            </a:r>
            <a:r>
              <a:rPr lang="en-US" dirty="0">
                <a:effectLst/>
                <a:ea typeface="Times New Roman" panose="02020603050405020304" pitchFamily="18" charset="0"/>
              </a:rPr>
              <a:t> =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Addres.AddresID</a:t>
            </a:r>
            <a:endParaRPr lang="en-US" dirty="0">
              <a:effectLst/>
              <a:ea typeface="Times New Roman" panose="02020603050405020304" pitchFamily="18" charset="0"/>
            </a:endParaRPr>
          </a:p>
          <a:p>
            <a:pPr marL="457200"/>
            <a:r>
              <a:rPr lang="en-US" dirty="0">
                <a:effectLst/>
                <a:ea typeface="Times New Roman" panose="02020603050405020304" pitchFamily="18" charset="0"/>
              </a:rPr>
              <a:t>INNER JOIN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WorkDays</a:t>
            </a:r>
            <a:r>
              <a:rPr lang="en-US" dirty="0">
                <a:effectLst/>
                <a:ea typeface="Times New Roman" panose="02020603050405020304" pitchFamily="18" charset="0"/>
              </a:rPr>
              <a:t> ON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Workers.WorkDaysID</a:t>
            </a:r>
            <a:r>
              <a:rPr lang="en-US" dirty="0">
                <a:effectLst/>
                <a:ea typeface="Times New Roman" panose="02020603050405020304" pitchFamily="18" charset="0"/>
              </a:rPr>
              <a:t> = </a:t>
            </a:r>
            <a:r>
              <a:rPr lang="en-US" dirty="0" err="1">
                <a:effectLst/>
                <a:ea typeface="Times New Roman" panose="02020603050405020304" pitchFamily="18" charset="0"/>
              </a:rPr>
              <a:t>WorkDays.WorkDaysID</a:t>
            </a:r>
            <a:r>
              <a:rPr lang="en-US" dirty="0">
                <a:effectLst/>
                <a:ea typeface="Times New Roman" panose="02020603050405020304" pitchFamily="18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DEB31-BDFC-4FF0-B788-308BA943F7F3}"/>
              </a:ext>
            </a:extLst>
          </p:cNvPr>
          <p:cNvSpPr txBox="1"/>
          <p:nvPr/>
        </p:nvSpPr>
        <p:spPr>
          <a:xfrm>
            <a:off x="0" y="2693568"/>
            <a:ext cx="6942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SQL </a:t>
            </a:r>
            <a:r>
              <a:rPr lang="ru-RU" sz="3600" dirty="0"/>
              <a:t>код запроса на создание представления о работниках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7633AD-D10A-4E70-AD9D-28D5D712AABA}"/>
              </a:ext>
            </a:extLst>
          </p:cNvPr>
          <p:cNvSpPr txBox="1"/>
          <p:nvPr/>
        </p:nvSpPr>
        <p:spPr>
          <a:xfrm>
            <a:off x="8973037" y="-72810"/>
            <a:ext cx="3346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Запросы и представления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2ADEB3-D105-4574-8C20-A19EC26F7AF0}"/>
              </a:ext>
            </a:extLst>
          </p:cNvPr>
          <p:cNvPicPr/>
          <p:nvPr/>
        </p:nvPicPr>
        <p:blipFill rotWithShape="1">
          <a:blip r:embed="rId2"/>
          <a:srcRect b="55092"/>
          <a:stretch/>
        </p:blipFill>
        <p:spPr bwMode="auto">
          <a:xfrm>
            <a:off x="487299" y="458704"/>
            <a:ext cx="11217402" cy="1759479"/>
          </a:xfrm>
          <a:prstGeom prst="rect">
            <a:avLst/>
          </a:prstGeom>
          <a:noFill/>
          <a:ln w="57150">
            <a:solidFill>
              <a:srgbClr val="40F6FA"/>
            </a:solidFill>
          </a:ln>
        </p:spPr>
      </p:pic>
    </p:spTree>
    <p:extLst>
      <p:ext uri="{BB962C8B-B14F-4D97-AF65-F5344CB8AC3E}">
        <p14:creationId xmlns:p14="http://schemas.microsoft.com/office/powerpoint/2010/main" val="2348207427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C7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EF89C6-3230-45D5-91E5-1FFD4F053A9D}"/>
              </a:ext>
            </a:extLst>
          </p:cNvPr>
          <p:cNvSpPr txBox="1"/>
          <p:nvPr/>
        </p:nvSpPr>
        <p:spPr>
          <a:xfrm>
            <a:off x="4773515" y="26757"/>
            <a:ext cx="2644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Заключение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E2757FE-441A-457A-906E-5E51AF366093}"/>
              </a:ext>
            </a:extLst>
          </p:cNvPr>
          <p:cNvSpPr/>
          <p:nvPr/>
        </p:nvSpPr>
        <p:spPr>
          <a:xfrm>
            <a:off x="809348" y="2743506"/>
            <a:ext cx="10573304" cy="292964"/>
          </a:xfrm>
          <a:prstGeom prst="rect">
            <a:avLst/>
          </a:prstGeom>
          <a:gradFill flip="none" rotWithShape="1">
            <a:gsLst>
              <a:gs pos="51400">
                <a:srgbClr val="6AE2A3"/>
              </a:gs>
              <a:gs pos="0">
                <a:srgbClr val="40F6FA"/>
              </a:gs>
              <a:gs pos="100000">
                <a:srgbClr val="92D05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блачко с текстом: прямоугольное со скругленными углами 3">
            <a:extLst>
              <a:ext uri="{FF2B5EF4-FFF2-40B4-BE49-F238E27FC236}">
                <a16:creationId xmlns:a16="http://schemas.microsoft.com/office/drawing/2014/main" id="{90A03A83-EBFC-44AB-BC10-984A1945BAA9}"/>
              </a:ext>
            </a:extLst>
          </p:cNvPr>
          <p:cNvSpPr/>
          <p:nvPr/>
        </p:nvSpPr>
        <p:spPr>
          <a:xfrm>
            <a:off x="809348" y="712275"/>
            <a:ext cx="3060008" cy="1472665"/>
          </a:xfrm>
          <a:prstGeom prst="wedgeRoundRectCallout">
            <a:avLst>
              <a:gd name="adj1" fmla="val -21462"/>
              <a:gd name="adj2" fmla="val 65114"/>
              <a:gd name="adj3" fmla="val 16667"/>
            </a:avLst>
          </a:prstGeom>
          <a:noFill/>
          <a:ln w="101600">
            <a:solidFill>
              <a:srgbClr val="40F6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5" name="Облачко с текстом: прямоугольное со скругленными углами 4">
            <a:extLst>
              <a:ext uri="{FF2B5EF4-FFF2-40B4-BE49-F238E27FC236}">
                <a16:creationId xmlns:a16="http://schemas.microsoft.com/office/drawing/2014/main" id="{C3D5F375-2474-4AC6-B571-35CA86B075C9}"/>
              </a:ext>
            </a:extLst>
          </p:cNvPr>
          <p:cNvSpPr/>
          <p:nvPr/>
        </p:nvSpPr>
        <p:spPr>
          <a:xfrm>
            <a:off x="4565996" y="712275"/>
            <a:ext cx="3060008" cy="1472665"/>
          </a:xfrm>
          <a:prstGeom prst="wedgeRoundRectCallout">
            <a:avLst>
              <a:gd name="adj1" fmla="val -21462"/>
              <a:gd name="adj2" fmla="val 65114"/>
              <a:gd name="adj3" fmla="val 16667"/>
            </a:avLst>
          </a:prstGeom>
          <a:noFill/>
          <a:ln w="101600">
            <a:solidFill>
              <a:srgbClr val="40EE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блачко с текстом: прямоугольное со скругленными углами 5">
            <a:extLst>
              <a:ext uri="{FF2B5EF4-FFF2-40B4-BE49-F238E27FC236}">
                <a16:creationId xmlns:a16="http://schemas.microsoft.com/office/drawing/2014/main" id="{305FCBA8-F6BB-4855-A4B2-08AB1DAD479D}"/>
              </a:ext>
            </a:extLst>
          </p:cNvPr>
          <p:cNvSpPr/>
          <p:nvPr/>
        </p:nvSpPr>
        <p:spPr>
          <a:xfrm>
            <a:off x="8322644" y="712275"/>
            <a:ext cx="3060008" cy="1472665"/>
          </a:xfrm>
          <a:prstGeom prst="wedgeRoundRectCallout">
            <a:avLst>
              <a:gd name="adj1" fmla="val -21462"/>
              <a:gd name="adj2" fmla="val 65114"/>
              <a:gd name="adj3" fmla="val 16667"/>
            </a:avLst>
          </a:prstGeom>
          <a:noFill/>
          <a:ln w="101600">
            <a:solidFill>
              <a:srgbClr val="40FF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лачко с текстом: прямоугольное со скругленными углами 6">
            <a:extLst>
              <a:ext uri="{FF2B5EF4-FFF2-40B4-BE49-F238E27FC236}">
                <a16:creationId xmlns:a16="http://schemas.microsoft.com/office/drawing/2014/main" id="{BD9871BC-CF35-4AF9-8F5C-A89599DACFF2}"/>
              </a:ext>
            </a:extLst>
          </p:cNvPr>
          <p:cNvSpPr/>
          <p:nvPr/>
        </p:nvSpPr>
        <p:spPr>
          <a:xfrm flipV="1">
            <a:off x="809348" y="3595036"/>
            <a:ext cx="3060008" cy="1472665"/>
          </a:xfrm>
          <a:prstGeom prst="wedgeRoundRectCallout">
            <a:avLst>
              <a:gd name="adj1" fmla="val -21462"/>
              <a:gd name="adj2" fmla="val 65114"/>
              <a:gd name="adj3" fmla="val 16667"/>
            </a:avLst>
          </a:prstGeom>
          <a:noFill/>
          <a:ln w="101600">
            <a:solidFill>
              <a:srgbClr val="40F6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блачко с текстом: прямоугольное со скругленными углами 7">
            <a:extLst>
              <a:ext uri="{FF2B5EF4-FFF2-40B4-BE49-F238E27FC236}">
                <a16:creationId xmlns:a16="http://schemas.microsoft.com/office/drawing/2014/main" id="{306F0BCD-F7D4-4B1F-9E65-3230EA96EE9C}"/>
              </a:ext>
            </a:extLst>
          </p:cNvPr>
          <p:cNvSpPr/>
          <p:nvPr/>
        </p:nvSpPr>
        <p:spPr>
          <a:xfrm flipV="1">
            <a:off x="4565996" y="3595036"/>
            <a:ext cx="3060008" cy="1472665"/>
          </a:xfrm>
          <a:prstGeom prst="wedgeRoundRectCallout">
            <a:avLst>
              <a:gd name="adj1" fmla="val -21462"/>
              <a:gd name="adj2" fmla="val 65114"/>
              <a:gd name="adj3" fmla="val 16667"/>
            </a:avLst>
          </a:prstGeom>
          <a:noFill/>
          <a:ln w="101600">
            <a:solidFill>
              <a:srgbClr val="40EE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лачко с текстом: прямоугольное со скругленными углами 8">
            <a:extLst>
              <a:ext uri="{FF2B5EF4-FFF2-40B4-BE49-F238E27FC236}">
                <a16:creationId xmlns:a16="http://schemas.microsoft.com/office/drawing/2014/main" id="{6C614D73-9C2B-4699-92B8-9604B7EC3890}"/>
              </a:ext>
            </a:extLst>
          </p:cNvPr>
          <p:cNvSpPr/>
          <p:nvPr/>
        </p:nvSpPr>
        <p:spPr>
          <a:xfrm flipV="1">
            <a:off x="8322644" y="3595035"/>
            <a:ext cx="3060008" cy="1472665"/>
          </a:xfrm>
          <a:prstGeom prst="wedgeRoundRectCallout">
            <a:avLst>
              <a:gd name="adj1" fmla="val -21462"/>
              <a:gd name="adj2" fmla="val 65114"/>
              <a:gd name="adj3" fmla="val 16667"/>
            </a:avLst>
          </a:prstGeom>
          <a:noFill/>
          <a:ln w="101600">
            <a:solidFill>
              <a:srgbClr val="40FF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ED70F4-D130-495C-9757-1E5CB1D1345A}"/>
              </a:ext>
            </a:extLst>
          </p:cNvPr>
          <p:cNvSpPr txBox="1"/>
          <p:nvPr/>
        </p:nvSpPr>
        <p:spPr>
          <a:xfrm>
            <a:off x="830226" y="845195"/>
            <a:ext cx="300706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dirty="0">
                <a:solidFill>
                  <a:schemeClr val="tx1"/>
                </a:solidFill>
              </a:rPr>
              <a:t>Информационная схема требуется в каждой области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633A7-D217-4A8D-9070-26D86219CCEB}"/>
              </a:ext>
            </a:extLst>
          </p:cNvPr>
          <p:cNvSpPr txBox="1"/>
          <p:nvPr/>
        </p:nvSpPr>
        <p:spPr>
          <a:xfrm>
            <a:off x="4565996" y="845195"/>
            <a:ext cx="300706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dirty="0">
                <a:solidFill>
                  <a:schemeClr val="tx1"/>
                </a:solidFill>
              </a:rPr>
              <a:t>Проведён анализ структуры предметной области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73F00F-D282-4060-A630-C8CFBBF36CB6}"/>
              </a:ext>
            </a:extLst>
          </p:cNvPr>
          <p:cNvSpPr txBox="1"/>
          <p:nvPr/>
        </p:nvSpPr>
        <p:spPr>
          <a:xfrm>
            <a:off x="8375583" y="845195"/>
            <a:ext cx="300706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dirty="0"/>
              <a:t>Разработана база данных на основе моделей</a:t>
            </a:r>
            <a:endParaRPr lang="ru-RU" sz="23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185508-B4DD-4B7C-ADB9-C1CDAFCFE2AE}"/>
              </a:ext>
            </a:extLst>
          </p:cNvPr>
          <p:cNvSpPr txBox="1"/>
          <p:nvPr/>
        </p:nvSpPr>
        <p:spPr>
          <a:xfrm>
            <a:off x="862287" y="3606410"/>
            <a:ext cx="300706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dirty="0">
                <a:solidFill>
                  <a:schemeClr val="tx1"/>
                </a:solidFill>
              </a:rPr>
              <a:t>Для каждой информационной системы требуется база данных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33BCE2-E328-4235-9F7C-7ADFE5424960}"/>
              </a:ext>
            </a:extLst>
          </p:cNvPr>
          <p:cNvSpPr txBox="1"/>
          <p:nvPr/>
        </p:nvSpPr>
        <p:spPr>
          <a:xfrm>
            <a:off x="4585454" y="3606410"/>
            <a:ext cx="300706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dirty="0">
                <a:solidFill>
                  <a:schemeClr val="tx1"/>
                </a:solidFill>
              </a:rPr>
              <a:t>Созданы инфологическая и </a:t>
            </a:r>
            <a:r>
              <a:rPr lang="ru-RU" sz="2300" dirty="0" err="1">
                <a:solidFill>
                  <a:schemeClr val="tx1"/>
                </a:solidFill>
              </a:rPr>
              <a:t>даталогическая</a:t>
            </a:r>
            <a:r>
              <a:rPr lang="ru-RU" sz="2300" dirty="0">
                <a:solidFill>
                  <a:schemeClr val="tx1"/>
                </a:solidFill>
              </a:rPr>
              <a:t> модели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7D1B9F-37EC-4BD1-B60C-1B360184D4FF}"/>
              </a:ext>
            </a:extLst>
          </p:cNvPr>
          <p:cNvSpPr txBox="1"/>
          <p:nvPr/>
        </p:nvSpPr>
        <p:spPr>
          <a:xfrm>
            <a:off x="8375583" y="3595035"/>
            <a:ext cx="300706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dirty="0">
                <a:solidFill>
                  <a:schemeClr val="tx1"/>
                </a:solidFill>
              </a:rPr>
              <a:t>Написаны запросы на выборку для базы данных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19C0BAB2-4B5F-4F3A-9AEE-4A4AEACD7E66}"/>
              </a:ext>
            </a:extLst>
          </p:cNvPr>
          <p:cNvSpPr/>
          <p:nvPr/>
        </p:nvSpPr>
        <p:spPr>
          <a:xfrm>
            <a:off x="809348" y="5727032"/>
            <a:ext cx="10573304" cy="866273"/>
          </a:xfrm>
          <a:prstGeom prst="roundRect">
            <a:avLst/>
          </a:prstGeom>
          <a:noFill/>
          <a:ln w="101600">
            <a:solidFill>
              <a:srgbClr val="3F40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Работа выполнена в соответствии с планом и успешно завершена. Система готова к использованию, обеспечивая надежное хранение и обработку данных.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76615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/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787</Words>
  <Application>Microsoft Office PowerPoint</Application>
  <PresentationFormat>Широкоэкранный</PresentationFormat>
  <Paragraphs>101</Paragraphs>
  <Slides>13</Slides>
  <Notes>0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Garage23</dc:creator>
  <cp:lastModifiedBy>Родион Самсыка</cp:lastModifiedBy>
  <cp:revision>168</cp:revision>
  <dcterms:created xsi:type="dcterms:W3CDTF">2025-05-08T15:10:49Z</dcterms:created>
  <dcterms:modified xsi:type="dcterms:W3CDTF">2025-05-12T18:22:28Z</dcterms:modified>
</cp:coreProperties>
</file>